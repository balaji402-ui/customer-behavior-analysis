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strument Sans"/>
      <p:regular r:id="rId201314"/>
    </p:embeddedFont>
    <p:embeddedFont>
      <p:font typeface="Instrument Sans Medium"/>
      <p:regular r:id="rId201315"/>
    </p:embeddedFont>
    <p:embeddedFont>
      <p:font typeface="Instrument Sans SemiBold"/>
      <p:regular r:id="rId201316"/>
    </p:embeddedFont>
    <p:embeddedFont>
      <p:font typeface="Instrument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543550" y="0"/>
            <a:ext cx="3600450" cy="5143500"/>
          </a:xfrm>
          <a:prstGeom prst="rect">
            <a:avLst/>
          </a:prstGeom>
          <a:solidFill>
            <a:srgbClr val="CEE6FD"/>
          </a:solidFill>
          <a:ln/>
        </p:spPr>
      </p:sp>
      <p:pic>
        <p:nvPicPr>
          <p:cNvPr id="3" name="Image 0" descr="preencoded.png">    </p:cNvPr>
          <p:cNvPicPr>
            <a:picLocks noChangeAspect="1"/>
          </p:cNvPicPr>
          <p:nvPr/>
        </p:nvPicPr>
        <p:blipFill>
          <a:blip r:embed="rId1"/>
          <a:stretch>
            <a:fillRect/>
          </a:stretch>
        </p:blipFill>
        <p:spPr>
          <a:xfrm>
            <a:off x="5975300" y="241697"/>
            <a:ext cx="3106638" cy="4660032"/>
          </a:xfrm>
          <a:prstGeom prst="rect">
            <a:avLst/>
          </a:prstGeom>
        </p:spPr>
      </p:pic>
      <p:sp>
        <p:nvSpPr>
          <p:cNvPr id="4" name="Text 1"/>
          <p:cNvSpPr/>
          <p:nvPr/>
        </p:nvSpPr>
        <p:spPr>
          <a:xfrm>
            <a:off x="496119" y="1694259"/>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Customer Shopping Behavior Analysis</a:t>
            </a:r>
            <a:endParaRPr lang="en-US" sz="2400" dirty="0"/>
          </a:p>
        </p:txBody>
      </p:sp>
      <p:sp>
        <p:nvSpPr>
          <p:cNvPr id="5" name="Text 2"/>
          <p:cNvSpPr/>
          <p:nvPr/>
        </p:nvSpPr>
        <p:spPr>
          <a:xfrm>
            <a:off x="496119" y="2655391"/>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This project analyzes customer shopping behavior using transactional data from 3,900 purchases across various product categories. The goal is to uncover insights into spending patterns, customer segments, product preferences, and subscription behavior to guide strategic business decisions.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319510"/>
            <a:ext cx="1145753" cy="233214"/>
          </a:xfrm>
          <a:prstGeom prst="roundRect">
            <a:avLst>
              <a:gd name="adj" fmla="val 38297"/>
            </a:avLst>
          </a:prstGeom>
          <a:solidFill>
            <a:srgbClr val="CEE6FD"/>
          </a:solidFill>
          <a:ln/>
        </p:spPr>
      </p:sp>
      <p:sp>
        <p:nvSpPr>
          <p:cNvPr id="3" name="Text 1"/>
          <p:cNvSpPr/>
          <p:nvPr/>
        </p:nvSpPr>
        <p:spPr>
          <a:xfrm>
            <a:off x="570533" y="1356717"/>
            <a:ext cx="1454125" cy="158800"/>
          </a:xfrm>
          <a:prstGeom prst="rect">
            <a:avLst/>
          </a:prstGeom>
          <a:noFill/>
          <a:ln/>
        </p:spPr>
        <p:txBody>
          <a:bodyPr wrap="none" lIns="0" tIns="0" rIns="0" bIns="0" rtlCol="0" anchor="t"/>
          <a:lstStyle/>
          <a:p>
            <a:pPr algn="l" indent="0" marL="0">
              <a:lnSpc>
                <a:spcPct val="1330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DATASET OVERVIEW</a:t>
            </a:r>
            <a:endParaRPr lang="en-US" sz="750" dirty="0"/>
          </a:p>
        </p:txBody>
      </p:sp>
      <p:sp>
        <p:nvSpPr>
          <p:cNvPr id="4" name="Text 2"/>
          <p:cNvSpPr/>
          <p:nvPr/>
        </p:nvSpPr>
        <p:spPr>
          <a:xfrm>
            <a:off x="496119" y="1602284"/>
            <a:ext cx="4852690"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Dataset Summary &amp; Structure</a:t>
            </a:r>
            <a:endParaRPr lang="en-US" sz="2400" dirty="0"/>
          </a:p>
        </p:txBody>
      </p:sp>
      <p:sp>
        <p:nvSpPr>
          <p:cNvPr id="5" name="Text 3"/>
          <p:cNvSpPr/>
          <p:nvPr/>
        </p:nvSpPr>
        <p:spPr>
          <a:xfrm>
            <a:off x="496119" y="217586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The dataset contains 3,900 rows and 18 columns capturing customer demographics, purchase details, and shopping behavior. Missing data was limited to 37 values in the Review Rating column.</a:t>
            </a:r>
            <a:endParaRPr lang="en-US" sz="950" dirty="0"/>
          </a:p>
        </p:txBody>
      </p:sp>
      <p:sp>
        <p:nvSpPr>
          <p:cNvPr id="6" name="Shape 4"/>
          <p:cNvSpPr/>
          <p:nvPr/>
        </p:nvSpPr>
        <p:spPr>
          <a:xfrm>
            <a:off x="496119" y="2712318"/>
            <a:ext cx="2634555" cy="1111597"/>
          </a:xfrm>
          <a:prstGeom prst="roundRect">
            <a:avLst>
              <a:gd name="adj" fmla="val 10043"/>
            </a:avLst>
          </a:prstGeom>
          <a:solidFill>
            <a:srgbClr val="CEE6FD"/>
          </a:solidFill>
          <a:ln/>
        </p:spPr>
      </p:sp>
      <p:sp>
        <p:nvSpPr>
          <p:cNvPr id="7" name="Text 5"/>
          <p:cNvSpPr/>
          <p:nvPr/>
        </p:nvSpPr>
        <p:spPr>
          <a:xfrm>
            <a:off x="620092" y="2836292"/>
            <a:ext cx="1837730"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Customer Demographics</a:t>
            </a:r>
            <a:endParaRPr lang="en-US" sz="1200" dirty="0"/>
          </a:p>
        </p:txBody>
      </p:sp>
      <p:sp>
        <p:nvSpPr>
          <p:cNvPr id="8" name="Text 6"/>
          <p:cNvSpPr/>
          <p:nvPr/>
        </p:nvSpPr>
        <p:spPr>
          <a:xfrm>
            <a:off x="620092" y="3104555"/>
            <a:ext cx="238660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Age, Gender, Location, Subscription Status</a:t>
            </a:r>
            <a:endParaRPr lang="en-US" sz="950" dirty="0"/>
          </a:p>
        </p:txBody>
      </p:sp>
      <p:sp>
        <p:nvSpPr>
          <p:cNvPr id="9" name="Shape 7"/>
          <p:cNvSpPr/>
          <p:nvPr/>
        </p:nvSpPr>
        <p:spPr>
          <a:xfrm>
            <a:off x="3254648" y="2712318"/>
            <a:ext cx="2634630" cy="1111597"/>
          </a:xfrm>
          <a:prstGeom prst="roundRect">
            <a:avLst>
              <a:gd name="adj" fmla="val 10043"/>
            </a:avLst>
          </a:prstGeom>
          <a:solidFill>
            <a:srgbClr val="CEE6FD"/>
          </a:solidFill>
          <a:ln/>
        </p:spPr>
      </p:sp>
      <p:sp>
        <p:nvSpPr>
          <p:cNvPr id="10" name="Text 8"/>
          <p:cNvSpPr/>
          <p:nvPr/>
        </p:nvSpPr>
        <p:spPr>
          <a:xfrm>
            <a:off x="3378622" y="283629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Purchase Details</a:t>
            </a:r>
            <a:endParaRPr lang="en-US" sz="1200" dirty="0"/>
          </a:p>
        </p:txBody>
      </p:sp>
      <p:sp>
        <p:nvSpPr>
          <p:cNvPr id="11" name="Text 9"/>
          <p:cNvSpPr/>
          <p:nvPr/>
        </p:nvSpPr>
        <p:spPr>
          <a:xfrm>
            <a:off x="3378622" y="3104555"/>
            <a:ext cx="238668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Item, Category, Amount, Season, Size, Color</a:t>
            </a:r>
            <a:endParaRPr lang="en-US" sz="950" dirty="0"/>
          </a:p>
        </p:txBody>
      </p:sp>
      <p:sp>
        <p:nvSpPr>
          <p:cNvPr id="12" name="Shape 10"/>
          <p:cNvSpPr/>
          <p:nvPr/>
        </p:nvSpPr>
        <p:spPr>
          <a:xfrm>
            <a:off x="6013252" y="2712318"/>
            <a:ext cx="2634555" cy="1111597"/>
          </a:xfrm>
          <a:prstGeom prst="roundRect">
            <a:avLst>
              <a:gd name="adj" fmla="val 10043"/>
            </a:avLst>
          </a:prstGeom>
          <a:solidFill>
            <a:srgbClr val="CEE6FD"/>
          </a:solidFill>
          <a:ln/>
        </p:spPr>
      </p:sp>
      <p:sp>
        <p:nvSpPr>
          <p:cNvPr id="13" name="Text 11"/>
          <p:cNvSpPr/>
          <p:nvPr/>
        </p:nvSpPr>
        <p:spPr>
          <a:xfrm>
            <a:off x="6137225" y="283629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Shopping Behavior</a:t>
            </a:r>
            <a:endParaRPr lang="en-US" sz="1200" dirty="0"/>
          </a:p>
        </p:txBody>
      </p:sp>
      <p:sp>
        <p:nvSpPr>
          <p:cNvPr id="14" name="Text 12"/>
          <p:cNvSpPr/>
          <p:nvPr/>
        </p:nvSpPr>
        <p:spPr>
          <a:xfrm>
            <a:off x="6137225" y="3104555"/>
            <a:ext cx="238660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Discount, Promo Code, Previous Purchases, Frequency, Review Rating, Shipping Type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543550" y="0"/>
            <a:ext cx="3600450" cy="5143500"/>
          </a:xfrm>
          <a:prstGeom prst="rect">
            <a:avLst/>
          </a:prstGeom>
          <a:solidFill>
            <a:srgbClr val="CEE6FD"/>
          </a:solidFill>
          <a:ln/>
        </p:spPr>
      </p:sp>
      <p:pic>
        <p:nvPicPr>
          <p:cNvPr id="3" name="Image 0" descr="preencoded.png">    </p:cNvPr>
          <p:cNvPicPr>
            <a:picLocks noChangeAspect="1"/>
          </p:cNvPicPr>
          <p:nvPr/>
        </p:nvPicPr>
        <p:blipFill>
          <a:blip r:embed="rId1"/>
          <a:stretch>
            <a:fillRect/>
          </a:stretch>
        </p:blipFill>
        <p:spPr>
          <a:xfrm>
            <a:off x="5975300" y="241697"/>
            <a:ext cx="3106638" cy="4660032"/>
          </a:xfrm>
          <a:prstGeom prst="rect">
            <a:avLst/>
          </a:prstGeom>
        </p:spPr>
      </p:pic>
      <p:sp>
        <p:nvSpPr>
          <p:cNvPr id="4" name="Text 1"/>
          <p:cNvSpPr/>
          <p:nvPr/>
        </p:nvSpPr>
        <p:spPr>
          <a:xfrm>
            <a:off x="496119" y="1114053"/>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Exploratory Data Analysis in Python</a:t>
            </a:r>
            <a:endParaRPr lang="en-US" sz="2400" dirty="0"/>
          </a:p>
        </p:txBody>
      </p:sp>
      <p:sp>
        <p:nvSpPr>
          <p:cNvPr id="5" name="Text 2"/>
          <p:cNvSpPr/>
          <p:nvPr/>
        </p:nvSpPr>
        <p:spPr>
          <a:xfrm>
            <a:off x="496119" y="2075185"/>
            <a:ext cx="4722763" cy="195426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We began with data preparation and cleaning in Python. The dataset was imported using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pandas</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with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df.info()</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and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.describe()</a:t>
            </a:r>
            <a:pPr algn="l" indent="0" marL="0">
              <a:lnSpc>
                <a:spcPct val="133000"/>
              </a:lnSpc>
              <a:spcAft>
                <a:spcPts val="1050"/>
              </a:spcAft>
              <a:buNone/>
            </a:pPr>
            <a:r>
              <a:rPr lang="en-US" sz="950" dirty="0">
                <a:solidFill>
                  <a:srgbClr val="1E3063"/>
                </a:solidFill>
                <a:latin typeface="Instrument Sans Medium" pitchFamily="34" charset="0"/>
                <a:ea typeface="Instrument Sans Medium" pitchFamily="34" charset="-122"/>
                <a:cs typeface="Instrument Sans Medium" pitchFamily="34" charset="-120"/>
              </a:rPr>
              <a:t> used for initial exploration and summary statistics.</a:t>
            </a:r>
            <a:endParaRPr lang="en-US" sz="950" dirty="0"/>
          </a:p>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Missing values in the Review Rating column were imputed using the median rating of each product category. Columns were renamed to snake case for readability. Feature engineering created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age_group</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and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purchase_frequency_days</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columns. We verified that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discount_applied</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and </a:t>
            </a:r>
            <a:pPr algn="l" indent="0" marL="0">
              <a:lnSpc>
                <a:spcPct val="133000"/>
              </a:lnSpc>
              <a:buNone/>
            </a:pPr>
            <a:r>
              <a:rPr lang="en-US" sz="950" dirty="0">
                <a:solidFill>
                  <a:srgbClr val="1E3063"/>
                </a:solidFill>
                <a:highlight>
                  <a:srgbClr val="F2F2F2"/>
                </a:highlight>
                <a:latin typeface="Consolas" pitchFamily="34" charset="0"/>
                <a:ea typeface="Consolas" pitchFamily="34" charset="-122"/>
                <a:cs typeface="Consolas" pitchFamily="34" charset="-120"/>
              </a:rPr>
              <a:t>promo_code_used</a:t>
            </a:r>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 were redundant, dropping the latter. The cleaned DataFrame was then loaded into PostgreSQL for SQL analysis.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926455"/>
            <a:ext cx="808732" cy="233214"/>
          </a:xfrm>
          <a:prstGeom prst="roundRect">
            <a:avLst>
              <a:gd name="adj" fmla="val 38297"/>
            </a:avLst>
          </a:prstGeom>
          <a:solidFill>
            <a:srgbClr val="CEE6FD"/>
          </a:solidFill>
          <a:ln/>
        </p:spPr>
      </p:sp>
      <p:sp>
        <p:nvSpPr>
          <p:cNvPr id="3" name="Text 1"/>
          <p:cNvSpPr/>
          <p:nvPr/>
        </p:nvSpPr>
        <p:spPr>
          <a:xfrm>
            <a:off x="570533" y="963662"/>
            <a:ext cx="1117104" cy="158800"/>
          </a:xfrm>
          <a:prstGeom prst="rect">
            <a:avLst/>
          </a:prstGeom>
          <a:noFill/>
          <a:ln/>
        </p:spPr>
        <p:txBody>
          <a:bodyPr wrap="none" lIns="0" tIns="0" rIns="0" bIns="0" rtlCol="0" anchor="t"/>
          <a:lstStyle/>
          <a:p>
            <a:pPr algn="l" indent="0" marL="0">
              <a:lnSpc>
                <a:spcPct val="1330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KEY METRICS</a:t>
            </a:r>
            <a:endParaRPr lang="en-US" sz="750" dirty="0"/>
          </a:p>
        </p:txBody>
      </p:sp>
      <p:sp>
        <p:nvSpPr>
          <p:cNvPr id="4" name="Text 2"/>
          <p:cNvSpPr/>
          <p:nvPr/>
        </p:nvSpPr>
        <p:spPr>
          <a:xfrm>
            <a:off x="496119" y="120922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Dataset at a Glance</a:t>
            </a:r>
            <a:endParaRPr lang="en-US" sz="2400" dirty="0"/>
          </a:p>
        </p:txBody>
      </p:sp>
      <p:sp>
        <p:nvSpPr>
          <p:cNvPr id="5" name="Text 3"/>
          <p:cNvSpPr/>
          <p:nvPr/>
        </p:nvSpPr>
        <p:spPr>
          <a:xfrm>
            <a:off x="496119" y="1844799"/>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1E3063"/>
                </a:solidFill>
                <a:latin typeface="Instrument Sans SemiBold" pitchFamily="34" charset="0"/>
                <a:ea typeface="Instrument Sans SemiBold" pitchFamily="34" charset="-122"/>
                <a:cs typeface="Instrument Sans SemiBold" pitchFamily="34" charset="-120"/>
              </a:rPr>
              <a:t>3,900</a:t>
            </a:r>
            <a:endParaRPr lang="en-US" sz="3200" dirty="0"/>
          </a:p>
        </p:txBody>
      </p:sp>
      <p:sp>
        <p:nvSpPr>
          <p:cNvPr id="6" name="Text 4"/>
          <p:cNvSpPr/>
          <p:nvPr/>
        </p:nvSpPr>
        <p:spPr>
          <a:xfrm>
            <a:off x="1720007" y="2409155"/>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Total Purchases</a:t>
            </a:r>
            <a:endParaRPr lang="en-US" sz="1200" dirty="0"/>
          </a:p>
        </p:txBody>
      </p:sp>
      <p:sp>
        <p:nvSpPr>
          <p:cNvPr id="7" name="Text 5"/>
          <p:cNvSpPr/>
          <p:nvPr/>
        </p:nvSpPr>
        <p:spPr>
          <a:xfrm>
            <a:off x="496119" y="2677418"/>
            <a:ext cx="3998342" cy="198462"/>
          </a:xfrm>
          <a:prstGeom prst="rect">
            <a:avLst/>
          </a:prstGeom>
          <a:noFill/>
          <a:ln/>
        </p:spPr>
        <p:txBody>
          <a:bodyPr wrap="none" lIns="0" tIns="0" rIns="0" bIns="0" rtlCol="0" anchor="t"/>
          <a:lstStyle/>
          <a:p>
            <a:pPr algn="ctr"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Transactional records analyzed</a:t>
            </a:r>
            <a:endParaRPr lang="en-US" sz="950" dirty="0"/>
          </a:p>
        </p:txBody>
      </p:sp>
      <p:sp>
        <p:nvSpPr>
          <p:cNvPr id="8" name="Text 6"/>
          <p:cNvSpPr/>
          <p:nvPr/>
        </p:nvSpPr>
        <p:spPr>
          <a:xfrm>
            <a:off x="4649465" y="1844799"/>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1E3063"/>
                </a:solidFill>
                <a:latin typeface="Instrument Sans SemiBold" pitchFamily="34" charset="0"/>
                <a:ea typeface="Instrument Sans SemiBold" pitchFamily="34" charset="-122"/>
                <a:cs typeface="Instrument Sans SemiBold" pitchFamily="34" charset="-120"/>
              </a:rPr>
              <a:t>$59.76</a:t>
            </a:r>
            <a:endParaRPr lang="en-US" sz="3200" dirty="0"/>
          </a:p>
        </p:txBody>
      </p:sp>
      <p:sp>
        <p:nvSpPr>
          <p:cNvPr id="9" name="Text 7"/>
          <p:cNvSpPr/>
          <p:nvPr/>
        </p:nvSpPr>
        <p:spPr>
          <a:xfrm>
            <a:off x="5836369" y="2409155"/>
            <a:ext cx="1624608" cy="193849"/>
          </a:xfrm>
          <a:prstGeom prst="rect">
            <a:avLst/>
          </a:prstGeom>
          <a:noFill/>
          <a:ln/>
        </p:spPr>
        <p:txBody>
          <a:bodyPr wrap="none" lIns="0" tIns="0" rIns="0" bIns="0" rtlCol="0" anchor="t"/>
          <a:lstStyle/>
          <a:p>
            <a:pPr algn="ctr"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Avg Purchase Amount</a:t>
            </a:r>
            <a:endParaRPr lang="en-US" sz="1200" dirty="0"/>
          </a:p>
        </p:txBody>
      </p:sp>
      <p:sp>
        <p:nvSpPr>
          <p:cNvPr id="10" name="Text 8"/>
          <p:cNvSpPr/>
          <p:nvPr/>
        </p:nvSpPr>
        <p:spPr>
          <a:xfrm>
            <a:off x="4649465" y="2677418"/>
            <a:ext cx="3998416" cy="198462"/>
          </a:xfrm>
          <a:prstGeom prst="rect">
            <a:avLst/>
          </a:prstGeom>
          <a:noFill/>
          <a:ln/>
        </p:spPr>
        <p:txBody>
          <a:bodyPr wrap="none" lIns="0" tIns="0" rIns="0" bIns="0" rtlCol="0" anchor="t"/>
          <a:lstStyle/>
          <a:p>
            <a:pPr algn="ctr"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Across all transactions</a:t>
            </a:r>
            <a:endParaRPr lang="en-US" sz="950" dirty="0"/>
          </a:p>
        </p:txBody>
      </p:sp>
      <p:sp>
        <p:nvSpPr>
          <p:cNvPr id="11" name="Text 9"/>
          <p:cNvSpPr/>
          <p:nvPr/>
        </p:nvSpPr>
        <p:spPr>
          <a:xfrm>
            <a:off x="496119" y="3185889"/>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1E3063"/>
                </a:solidFill>
                <a:latin typeface="Instrument Sans SemiBold" pitchFamily="34" charset="0"/>
                <a:ea typeface="Instrument Sans SemiBold" pitchFamily="34" charset="-122"/>
                <a:cs typeface="Instrument Sans SemiBold" pitchFamily="34" charset="-120"/>
              </a:rPr>
              <a:t>44</a:t>
            </a:r>
            <a:endParaRPr lang="en-US" sz="3200" dirty="0"/>
          </a:p>
        </p:txBody>
      </p:sp>
      <p:sp>
        <p:nvSpPr>
          <p:cNvPr id="12" name="Text 10"/>
          <p:cNvSpPr/>
          <p:nvPr/>
        </p:nvSpPr>
        <p:spPr>
          <a:xfrm>
            <a:off x="1720007" y="3750246"/>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Avg Customer Age</a:t>
            </a:r>
            <a:endParaRPr lang="en-US" sz="1200" dirty="0"/>
          </a:p>
        </p:txBody>
      </p:sp>
      <p:sp>
        <p:nvSpPr>
          <p:cNvPr id="13" name="Text 11"/>
          <p:cNvSpPr/>
          <p:nvPr/>
        </p:nvSpPr>
        <p:spPr>
          <a:xfrm>
            <a:off x="496119" y="4018508"/>
            <a:ext cx="3998342" cy="198462"/>
          </a:xfrm>
          <a:prstGeom prst="rect">
            <a:avLst/>
          </a:prstGeom>
          <a:noFill/>
          <a:ln/>
        </p:spPr>
        <p:txBody>
          <a:bodyPr wrap="none" lIns="0" tIns="0" rIns="0" bIns="0" rtlCol="0" anchor="t"/>
          <a:lstStyle/>
          <a:p>
            <a:pPr algn="ctr"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Range: 18–70 years</a:t>
            </a:r>
            <a:endParaRPr lang="en-US" sz="950" dirty="0"/>
          </a:p>
        </p:txBody>
      </p:sp>
      <p:sp>
        <p:nvSpPr>
          <p:cNvPr id="14" name="Text 12"/>
          <p:cNvSpPr/>
          <p:nvPr/>
        </p:nvSpPr>
        <p:spPr>
          <a:xfrm>
            <a:off x="4649465" y="3185889"/>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1E3063"/>
                </a:solidFill>
                <a:latin typeface="Instrument Sans SemiBold" pitchFamily="34" charset="0"/>
                <a:ea typeface="Instrument Sans SemiBold" pitchFamily="34" charset="-122"/>
                <a:cs typeface="Instrument Sans SemiBold" pitchFamily="34" charset="-120"/>
              </a:rPr>
              <a:t>3.75</a:t>
            </a:r>
            <a:endParaRPr lang="en-US" sz="3200" dirty="0"/>
          </a:p>
        </p:txBody>
      </p:sp>
      <p:sp>
        <p:nvSpPr>
          <p:cNvPr id="15" name="Text 13"/>
          <p:cNvSpPr/>
          <p:nvPr/>
        </p:nvSpPr>
        <p:spPr>
          <a:xfrm>
            <a:off x="5873353" y="3750246"/>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Avg Review Rating</a:t>
            </a:r>
            <a:endParaRPr lang="en-US" sz="1200" dirty="0"/>
          </a:p>
        </p:txBody>
      </p:sp>
      <p:sp>
        <p:nvSpPr>
          <p:cNvPr id="16" name="Text 14"/>
          <p:cNvSpPr/>
          <p:nvPr/>
        </p:nvSpPr>
        <p:spPr>
          <a:xfrm>
            <a:off x="4649465" y="4018508"/>
            <a:ext cx="3998416" cy="198462"/>
          </a:xfrm>
          <a:prstGeom prst="rect">
            <a:avLst/>
          </a:prstGeom>
          <a:noFill/>
          <a:ln/>
        </p:spPr>
        <p:txBody>
          <a:bodyPr wrap="none" lIns="0" tIns="0" rIns="0" bIns="0" rtlCol="0" anchor="t"/>
          <a:lstStyle/>
          <a:p>
            <a:pPr algn="ctr"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Scale: 2.5–5.0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78706"/>
            <a:ext cx="6523434"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Revenue by Gender &amp; Subscription Status</a:t>
            </a:r>
            <a:endParaRPr lang="en-US" sz="2400" dirty="0"/>
          </a:p>
        </p:txBody>
      </p:sp>
      <p:pic>
        <p:nvPicPr>
          <p:cNvPr id="3" name="Image 0" descr="preencoded.png">    </p:cNvPr>
          <p:cNvPicPr>
            <a:picLocks noChangeAspect="1"/>
          </p:cNvPicPr>
          <p:nvPr/>
        </p:nvPicPr>
        <p:blipFill>
          <a:blip r:embed="rId1"/>
          <a:stretch>
            <a:fillRect/>
          </a:stretch>
        </p:blipFill>
        <p:spPr>
          <a:xfrm>
            <a:off x="496119" y="1191816"/>
            <a:ext cx="3924598" cy="2824907"/>
          </a:xfrm>
          <a:prstGeom prst="rect">
            <a:avLst/>
          </a:prstGeom>
        </p:spPr>
      </p:pic>
      <p:sp>
        <p:nvSpPr>
          <p:cNvPr id="4" name="Text 1"/>
          <p:cNvSpPr/>
          <p:nvPr/>
        </p:nvSpPr>
        <p:spPr>
          <a:xfrm>
            <a:off x="496119" y="4156249"/>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Male customers generated $157,890 in revenue, more than double the $75,191 from female customers.</a:t>
            </a:r>
            <a:endParaRPr lang="en-US" sz="950" dirty="0"/>
          </a:p>
        </p:txBody>
      </p:sp>
      <p:pic>
        <p:nvPicPr>
          <p:cNvPr id="5" name="Image 1" descr="preencoded.png">    </p:cNvPr>
          <p:cNvPicPr>
            <a:picLocks noChangeAspect="1"/>
          </p:cNvPicPr>
          <p:nvPr/>
        </p:nvPicPr>
        <p:blipFill>
          <a:blip r:embed="rId2"/>
          <a:stretch>
            <a:fillRect/>
          </a:stretch>
        </p:blipFill>
        <p:spPr>
          <a:xfrm>
            <a:off x="4728046" y="1191816"/>
            <a:ext cx="3924598" cy="2824907"/>
          </a:xfrm>
          <a:prstGeom prst="rect">
            <a:avLst/>
          </a:prstGeom>
        </p:spPr>
      </p:pic>
      <p:sp>
        <p:nvSpPr>
          <p:cNvPr id="6" name="Text 2"/>
          <p:cNvSpPr/>
          <p:nvPr/>
        </p:nvSpPr>
        <p:spPr>
          <a:xfrm>
            <a:off x="4728046" y="4156249"/>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Non-subscribers drove $170,436 in revenue across 2,847 customers, while 1,053 subscribers contributed $62,645.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43086"/>
            <a:ext cx="7738616"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Top-Rated Products &amp; Discount-Dependent Items</a:t>
            </a:r>
            <a:endParaRPr lang="en-US" sz="2400" dirty="0"/>
          </a:p>
        </p:txBody>
      </p:sp>
      <p:sp>
        <p:nvSpPr>
          <p:cNvPr id="3" name="Text 1"/>
          <p:cNvSpPr/>
          <p:nvPr/>
        </p:nvSpPr>
        <p:spPr>
          <a:xfrm>
            <a:off x="496119" y="1340644"/>
            <a:ext cx="2262857" cy="193849"/>
          </a:xfrm>
          <a:prstGeom prst="rect">
            <a:avLst/>
          </a:prstGeom>
          <a:noFill/>
          <a:ln/>
        </p:spPr>
        <p:txBody>
          <a:bodyPr wrap="none" lIns="0" tIns="0" rIns="0" bIns="0" rtlCol="0" anchor="t"/>
          <a:lstStyle/>
          <a:p>
            <a:pPr algn="l" indent="0" marL="0">
              <a:lnSpc>
                <a:spcPct val="104000"/>
              </a:lnSpc>
              <a:buNone/>
            </a:pPr>
            <a:r>
              <a:rPr lang="en-US" sz="1200" dirty="0">
                <a:solidFill>
                  <a:srgbClr val="091C53"/>
                </a:solidFill>
                <a:latin typeface="Instrument Sans SemiBold" pitchFamily="34" charset="0"/>
                <a:ea typeface="Instrument Sans SemiBold" pitchFamily="34" charset="-122"/>
                <a:cs typeface="Instrument Sans SemiBold" pitchFamily="34" charset="-120"/>
              </a:rPr>
              <a:t>Top 5 Products by Rating</a:t>
            </a:r>
            <a:endParaRPr lang="en-US" sz="1200" dirty="0"/>
          </a:p>
        </p:txBody>
      </p:sp>
      <p:sp>
        <p:nvSpPr>
          <p:cNvPr id="4" name="Shape 2"/>
          <p:cNvSpPr/>
          <p:nvPr/>
        </p:nvSpPr>
        <p:spPr>
          <a:xfrm>
            <a:off x="496119" y="1674019"/>
            <a:ext cx="3924598" cy="2150418"/>
          </a:xfrm>
          <a:prstGeom prst="roundRect">
            <a:avLst>
              <a:gd name="adj" fmla="val 5192"/>
            </a:avLst>
          </a:prstGeom>
          <a:noFill/>
          <a:ln w="4763">
            <a:solidFill>
              <a:srgbClr val="000000">
                <a:alpha val="8000"/>
              </a:srgbClr>
            </a:solidFill>
            <a:prstDash val="solid"/>
          </a:ln>
        </p:spPr>
      </p:sp>
      <p:sp>
        <p:nvSpPr>
          <p:cNvPr id="5" name="Shape 3"/>
          <p:cNvSpPr/>
          <p:nvPr/>
        </p:nvSpPr>
        <p:spPr>
          <a:xfrm>
            <a:off x="500881" y="1678781"/>
            <a:ext cx="3915073" cy="356815"/>
          </a:xfrm>
          <a:prstGeom prst="rect">
            <a:avLst/>
          </a:prstGeom>
          <a:solidFill>
            <a:srgbClr val="FFFFFF">
              <a:alpha val="4000"/>
            </a:srgbClr>
          </a:solidFill>
          <a:ln/>
        </p:spPr>
      </p:sp>
      <p:sp>
        <p:nvSpPr>
          <p:cNvPr id="6" name="Text 4"/>
          <p:cNvSpPr/>
          <p:nvPr/>
        </p:nvSpPr>
        <p:spPr>
          <a:xfrm>
            <a:off x="624929" y="1757958"/>
            <a:ext cx="2555900" cy="198462"/>
          </a:xfrm>
          <a:prstGeom prst="rect">
            <a:avLst/>
          </a:prstGeom>
          <a:noFill/>
          <a:ln/>
        </p:spPr>
        <p:txBody>
          <a:bodyPr wrap="none" lIns="0" tIns="0" rIns="0" bIns="0" rtlCol="0" anchor="t"/>
          <a:lstStyle/>
          <a:p>
            <a:pPr algn="l" indent="0" marL="0">
              <a:lnSpc>
                <a:spcPct val="133000"/>
              </a:lnSpc>
              <a:buNone/>
            </a:pPr>
            <a:r>
              <a:rPr lang="en-US" sz="950" b="1" dirty="0">
                <a:solidFill>
                  <a:srgbClr val="1E3063"/>
                </a:solidFill>
                <a:latin typeface="Instrument Sans Bold" pitchFamily="34" charset="0"/>
                <a:ea typeface="Instrument Sans Bold" pitchFamily="34" charset="-122"/>
                <a:cs typeface="Instrument Sans Bold" pitchFamily="34" charset="-120"/>
              </a:rPr>
              <a:t>Product</a:t>
            </a:r>
            <a:endParaRPr lang="en-US" sz="950" dirty="0"/>
          </a:p>
        </p:txBody>
      </p:sp>
      <p:sp>
        <p:nvSpPr>
          <p:cNvPr id="7" name="Text 5"/>
          <p:cNvSpPr/>
          <p:nvPr/>
        </p:nvSpPr>
        <p:spPr>
          <a:xfrm>
            <a:off x="2976339" y="1757958"/>
            <a:ext cx="1772841" cy="198462"/>
          </a:xfrm>
          <a:prstGeom prst="rect">
            <a:avLst/>
          </a:prstGeom>
          <a:noFill/>
          <a:ln/>
        </p:spPr>
        <p:txBody>
          <a:bodyPr wrap="none" lIns="0" tIns="0" rIns="0" bIns="0" rtlCol="0" anchor="t"/>
          <a:lstStyle/>
          <a:p>
            <a:pPr algn="l" indent="0" marL="0">
              <a:lnSpc>
                <a:spcPct val="133000"/>
              </a:lnSpc>
              <a:buNone/>
            </a:pPr>
            <a:r>
              <a:rPr lang="en-US" sz="950" b="1" dirty="0">
                <a:solidFill>
                  <a:srgbClr val="1E3063"/>
                </a:solidFill>
                <a:latin typeface="Instrument Sans Bold" pitchFamily="34" charset="0"/>
                <a:ea typeface="Instrument Sans Bold" pitchFamily="34" charset="-122"/>
                <a:cs typeface="Instrument Sans Bold" pitchFamily="34" charset="-120"/>
              </a:rPr>
              <a:t>Avg Rating</a:t>
            </a:r>
            <a:endParaRPr lang="en-US" sz="950" dirty="0"/>
          </a:p>
        </p:txBody>
      </p:sp>
      <p:sp>
        <p:nvSpPr>
          <p:cNvPr id="8" name="Shape 6"/>
          <p:cNvSpPr/>
          <p:nvPr/>
        </p:nvSpPr>
        <p:spPr>
          <a:xfrm>
            <a:off x="500881" y="2035597"/>
            <a:ext cx="3915073" cy="356815"/>
          </a:xfrm>
          <a:prstGeom prst="rect">
            <a:avLst/>
          </a:prstGeom>
          <a:solidFill>
            <a:srgbClr val="000000">
              <a:alpha val="4000"/>
            </a:srgbClr>
          </a:solidFill>
          <a:ln/>
        </p:spPr>
      </p:sp>
      <p:sp>
        <p:nvSpPr>
          <p:cNvPr id="9" name="Text 7"/>
          <p:cNvSpPr/>
          <p:nvPr/>
        </p:nvSpPr>
        <p:spPr>
          <a:xfrm>
            <a:off x="624929" y="2114773"/>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Gloves</a:t>
            </a:r>
            <a:endParaRPr lang="en-US" sz="950" dirty="0"/>
          </a:p>
        </p:txBody>
      </p:sp>
      <p:sp>
        <p:nvSpPr>
          <p:cNvPr id="10" name="Text 8"/>
          <p:cNvSpPr/>
          <p:nvPr/>
        </p:nvSpPr>
        <p:spPr>
          <a:xfrm>
            <a:off x="2976339" y="2114773"/>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3.86</a:t>
            </a:r>
            <a:endParaRPr lang="en-US" sz="950" dirty="0"/>
          </a:p>
        </p:txBody>
      </p:sp>
      <p:sp>
        <p:nvSpPr>
          <p:cNvPr id="11" name="Shape 9"/>
          <p:cNvSpPr/>
          <p:nvPr/>
        </p:nvSpPr>
        <p:spPr>
          <a:xfrm>
            <a:off x="500881" y="2392412"/>
            <a:ext cx="3915073" cy="356815"/>
          </a:xfrm>
          <a:prstGeom prst="rect">
            <a:avLst/>
          </a:prstGeom>
          <a:solidFill>
            <a:srgbClr val="FFFFFF">
              <a:alpha val="4000"/>
            </a:srgbClr>
          </a:solidFill>
          <a:ln/>
        </p:spPr>
      </p:sp>
      <p:sp>
        <p:nvSpPr>
          <p:cNvPr id="12" name="Text 10"/>
          <p:cNvSpPr/>
          <p:nvPr/>
        </p:nvSpPr>
        <p:spPr>
          <a:xfrm>
            <a:off x="624929" y="2471589"/>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Sandals</a:t>
            </a:r>
            <a:endParaRPr lang="en-US" sz="950" dirty="0"/>
          </a:p>
        </p:txBody>
      </p:sp>
      <p:sp>
        <p:nvSpPr>
          <p:cNvPr id="13" name="Text 11"/>
          <p:cNvSpPr/>
          <p:nvPr/>
        </p:nvSpPr>
        <p:spPr>
          <a:xfrm>
            <a:off x="2976339" y="2471589"/>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3.84</a:t>
            </a:r>
            <a:endParaRPr lang="en-US" sz="950" dirty="0"/>
          </a:p>
        </p:txBody>
      </p:sp>
      <p:sp>
        <p:nvSpPr>
          <p:cNvPr id="14" name="Shape 12"/>
          <p:cNvSpPr/>
          <p:nvPr/>
        </p:nvSpPr>
        <p:spPr>
          <a:xfrm>
            <a:off x="500881" y="2749228"/>
            <a:ext cx="3915073" cy="356815"/>
          </a:xfrm>
          <a:prstGeom prst="rect">
            <a:avLst/>
          </a:prstGeom>
          <a:solidFill>
            <a:srgbClr val="000000">
              <a:alpha val="4000"/>
            </a:srgbClr>
          </a:solidFill>
          <a:ln/>
        </p:spPr>
      </p:sp>
      <p:sp>
        <p:nvSpPr>
          <p:cNvPr id="15" name="Text 13"/>
          <p:cNvSpPr/>
          <p:nvPr/>
        </p:nvSpPr>
        <p:spPr>
          <a:xfrm>
            <a:off x="624929" y="2828404"/>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Boots</a:t>
            </a:r>
            <a:endParaRPr lang="en-US" sz="950" dirty="0"/>
          </a:p>
        </p:txBody>
      </p:sp>
      <p:sp>
        <p:nvSpPr>
          <p:cNvPr id="16" name="Text 14"/>
          <p:cNvSpPr/>
          <p:nvPr/>
        </p:nvSpPr>
        <p:spPr>
          <a:xfrm>
            <a:off x="2976339" y="2828404"/>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3.82</a:t>
            </a:r>
            <a:endParaRPr lang="en-US" sz="950" dirty="0"/>
          </a:p>
        </p:txBody>
      </p:sp>
      <p:sp>
        <p:nvSpPr>
          <p:cNvPr id="17" name="Shape 15"/>
          <p:cNvSpPr/>
          <p:nvPr/>
        </p:nvSpPr>
        <p:spPr>
          <a:xfrm>
            <a:off x="500881" y="3106043"/>
            <a:ext cx="3915073" cy="356815"/>
          </a:xfrm>
          <a:prstGeom prst="rect">
            <a:avLst/>
          </a:prstGeom>
          <a:solidFill>
            <a:srgbClr val="FFFFFF">
              <a:alpha val="4000"/>
            </a:srgbClr>
          </a:solidFill>
          <a:ln/>
        </p:spPr>
      </p:sp>
      <p:sp>
        <p:nvSpPr>
          <p:cNvPr id="18" name="Text 16"/>
          <p:cNvSpPr/>
          <p:nvPr/>
        </p:nvSpPr>
        <p:spPr>
          <a:xfrm>
            <a:off x="624929" y="3185220"/>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Hat</a:t>
            </a:r>
            <a:endParaRPr lang="en-US" sz="950" dirty="0"/>
          </a:p>
        </p:txBody>
      </p:sp>
      <p:sp>
        <p:nvSpPr>
          <p:cNvPr id="19" name="Text 17"/>
          <p:cNvSpPr/>
          <p:nvPr/>
        </p:nvSpPr>
        <p:spPr>
          <a:xfrm>
            <a:off x="2976339" y="3185220"/>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3.80</a:t>
            </a:r>
            <a:endParaRPr lang="en-US" sz="950" dirty="0"/>
          </a:p>
        </p:txBody>
      </p:sp>
      <p:sp>
        <p:nvSpPr>
          <p:cNvPr id="20" name="Shape 18"/>
          <p:cNvSpPr/>
          <p:nvPr/>
        </p:nvSpPr>
        <p:spPr>
          <a:xfrm>
            <a:off x="500881" y="3462858"/>
            <a:ext cx="3915073" cy="356815"/>
          </a:xfrm>
          <a:prstGeom prst="rect">
            <a:avLst/>
          </a:prstGeom>
          <a:solidFill>
            <a:srgbClr val="000000">
              <a:alpha val="4000"/>
            </a:srgbClr>
          </a:solidFill>
          <a:ln/>
        </p:spPr>
      </p:sp>
      <p:sp>
        <p:nvSpPr>
          <p:cNvPr id="21" name="Text 19"/>
          <p:cNvSpPr/>
          <p:nvPr/>
        </p:nvSpPr>
        <p:spPr>
          <a:xfrm>
            <a:off x="624929" y="3542035"/>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Skirt</a:t>
            </a:r>
            <a:endParaRPr lang="en-US" sz="950" dirty="0"/>
          </a:p>
        </p:txBody>
      </p:sp>
      <p:sp>
        <p:nvSpPr>
          <p:cNvPr id="22" name="Text 20"/>
          <p:cNvSpPr/>
          <p:nvPr/>
        </p:nvSpPr>
        <p:spPr>
          <a:xfrm>
            <a:off x="2976339" y="3542035"/>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3.78</a:t>
            </a:r>
            <a:endParaRPr lang="en-US" sz="950" dirty="0"/>
          </a:p>
        </p:txBody>
      </p:sp>
      <p:sp>
        <p:nvSpPr>
          <p:cNvPr id="23" name="Text 21"/>
          <p:cNvSpPr/>
          <p:nvPr/>
        </p:nvSpPr>
        <p:spPr>
          <a:xfrm>
            <a:off x="4728046" y="1340644"/>
            <a:ext cx="3133502" cy="193849"/>
          </a:xfrm>
          <a:prstGeom prst="rect">
            <a:avLst/>
          </a:prstGeom>
          <a:noFill/>
          <a:ln/>
        </p:spPr>
        <p:txBody>
          <a:bodyPr wrap="none" lIns="0" tIns="0" rIns="0" bIns="0" rtlCol="0" anchor="t"/>
          <a:lstStyle/>
          <a:p>
            <a:pPr algn="l" indent="0" marL="0">
              <a:lnSpc>
                <a:spcPct val="104000"/>
              </a:lnSpc>
              <a:buNone/>
            </a:pPr>
            <a:r>
              <a:rPr lang="en-US" sz="1200" dirty="0">
                <a:solidFill>
                  <a:srgbClr val="091C53"/>
                </a:solidFill>
                <a:latin typeface="Instrument Sans SemiBold" pitchFamily="34" charset="0"/>
                <a:ea typeface="Instrument Sans SemiBold" pitchFamily="34" charset="-122"/>
                <a:cs typeface="Instrument Sans SemiBold" pitchFamily="34" charset="-120"/>
              </a:rPr>
              <a:t>Top 5 Discount-Dependent Products</a:t>
            </a:r>
            <a:endParaRPr lang="en-US" sz="1200" dirty="0"/>
          </a:p>
        </p:txBody>
      </p:sp>
      <p:sp>
        <p:nvSpPr>
          <p:cNvPr id="24" name="Shape 22"/>
          <p:cNvSpPr/>
          <p:nvPr/>
        </p:nvSpPr>
        <p:spPr>
          <a:xfrm>
            <a:off x="4728046" y="1674019"/>
            <a:ext cx="3924598" cy="2150418"/>
          </a:xfrm>
          <a:prstGeom prst="roundRect">
            <a:avLst>
              <a:gd name="adj" fmla="val 5192"/>
            </a:avLst>
          </a:prstGeom>
          <a:noFill/>
          <a:ln w="4763">
            <a:solidFill>
              <a:srgbClr val="000000">
                <a:alpha val="8000"/>
              </a:srgbClr>
            </a:solidFill>
            <a:prstDash val="solid"/>
          </a:ln>
        </p:spPr>
      </p:sp>
      <p:sp>
        <p:nvSpPr>
          <p:cNvPr id="25" name="Shape 23"/>
          <p:cNvSpPr/>
          <p:nvPr/>
        </p:nvSpPr>
        <p:spPr>
          <a:xfrm>
            <a:off x="4732809" y="1678781"/>
            <a:ext cx="3915073" cy="356815"/>
          </a:xfrm>
          <a:prstGeom prst="rect">
            <a:avLst/>
          </a:prstGeom>
          <a:solidFill>
            <a:srgbClr val="FFFFFF">
              <a:alpha val="4000"/>
            </a:srgbClr>
          </a:solidFill>
          <a:ln/>
        </p:spPr>
      </p:sp>
      <p:sp>
        <p:nvSpPr>
          <p:cNvPr id="26" name="Text 24"/>
          <p:cNvSpPr/>
          <p:nvPr/>
        </p:nvSpPr>
        <p:spPr>
          <a:xfrm>
            <a:off x="4856857" y="1757958"/>
            <a:ext cx="2555900" cy="198462"/>
          </a:xfrm>
          <a:prstGeom prst="rect">
            <a:avLst/>
          </a:prstGeom>
          <a:noFill/>
          <a:ln/>
        </p:spPr>
        <p:txBody>
          <a:bodyPr wrap="none" lIns="0" tIns="0" rIns="0" bIns="0" rtlCol="0" anchor="t"/>
          <a:lstStyle/>
          <a:p>
            <a:pPr algn="l" indent="0" marL="0">
              <a:lnSpc>
                <a:spcPct val="133000"/>
              </a:lnSpc>
              <a:buNone/>
            </a:pPr>
            <a:r>
              <a:rPr lang="en-US" sz="950" b="1" dirty="0">
                <a:solidFill>
                  <a:srgbClr val="1E3063"/>
                </a:solidFill>
                <a:latin typeface="Instrument Sans Bold" pitchFamily="34" charset="0"/>
                <a:ea typeface="Instrument Sans Bold" pitchFamily="34" charset="-122"/>
                <a:cs typeface="Instrument Sans Bold" pitchFamily="34" charset="-120"/>
              </a:rPr>
              <a:t>Product</a:t>
            </a:r>
            <a:endParaRPr lang="en-US" sz="950" dirty="0"/>
          </a:p>
        </p:txBody>
      </p:sp>
      <p:sp>
        <p:nvSpPr>
          <p:cNvPr id="27" name="Text 25"/>
          <p:cNvSpPr/>
          <p:nvPr/>
        </p:nvSpPr>
        <p:spPr>
          <a:xfrm>
            <a:off x="7208267" y="1757958"/>
            <a:ext cx="1772841" cy="198462"/>
          </a:xfrm>
          <a:prstGeom prst="rect">
            <a:avLst/>
          </a:prstGeom>
          <a:noFill/>
          <a:ln/>
        </p:spPr>
        <p:txBody>
          <a:bodyPr wrap="none" lIns="0" tIns="0" rIns="0" bIns="0" rtlCol="0" anchor="t"/>
          <a:lstStyle/>
          <a:p>
            <a:pPr algn="l" indent="0" marL="0">
              <a:lnSpc>
                <a:spcPct val="133000"/>
              </a:lnSpc>
              <a:buNone/>
            </a:pPr>
            <a:r>
              <a:rPr lang="en-US" sz="950" b="1" dirty="0">
                <a:solidFill>
                  <a:srgbClr val="1E3063"/>
                </a:solidFill>
                <a:latin typeface="Instrument Sans Bold" pitchFamily="34" charset="0"/>
                <a:ea typeface="Instrument Sans Bold" pitchFamily="34" charset="-122"/>
                <a:cs typeface="Instrument Sans Bold" pitchFamily="34" charset="-120"/>
              </a:rPr>
              <a:t>Discount Rate (%)</a:t>
            </a:r>
            <a:endParaRPr lang="en-US" sz="950" dirty="0"/>
          </a:p>
        </p:txBody>
      </p:sp>
      <p:sp>
        <p:nvSpPr>
          <p:cNvPr id="28" name="Shape 26"/>
          <p:cNvSpPr/>
          <p:nvPr/>
        </p:nvSpPr>
        <p:spPr>
          <a:xfrm>
            <a:off x="4732809" y="2035597"/>
            <a:ext cx="3915073" cy="356815"/>
          </a:xfrm>
          <a:prstGeom prst="rect">
            <a:avLst/>
          </a:prstGeom>
          <a:solidFill>
            <a:srgbClr val="000000">
              <a:alpha val="4000"/>
            </a:srgbClr>
          </a:solidFill>
          <a:ln/>
        </p:spPr>
      </p:sp>
      <p:sp>
        <p:nvSpPr>
          <p:cNvPr id="29" name="Text 27"/>
          <p:cNvSpPr/>
          <p:nvPr/>
        </p:nvSpPr>
        <p:spPr>
          <a:xfrm>
            <a:off x="4856857" y="2114773"/>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Hat</a:t>
            </a:r>
            <a:endParaRPr lang="en-US" sz="950" dirty="0"/>
          </a:p>
        </p:txBody>
      </p:sp>
      <p:sp>
        <p:nvSpPr>
          <p:cNvPr id="30" name="Text 28"/>
          <p:cNvSpPr/>
          <p:nvPr/>
        </p:nvSpPr>
        <p:spPr>
          <a:xfrm>
            <a:off x="7208267" y="2114773"/>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50.00</a:t>
            </a:r>
            <a:endParaRPr lang="en-US" sz="950" dirty="0"/>
          </a:p>
        </p:txBody>
      </p:sp>
      <p:sp>
        <p:nvSpPr>
          <p:cNvPr id="31" name="Shape 29"/>
          <p:cNvSpPr/>
          <p:nvPr/>
        </p:nvSpPr>
        <p:spPr>
          <a:xfrm>
            <a:off x="4732809" y="2392412"/>
            <a:ext cx="3915073" cy="356815"/>
          </a:xfrm>
          <a:prstGeom prst="rect">
            <a:avLst/>
          </a:prstGeom>
          <a:solidFill>
            <a:srgbClr val="FFFFFF">
              <a:alpha val="4000"/>
            </a:srgbClr>
          </a:solidFill>
          <a:ln/>
        </p:spPr>
      </p:sp>
      <p:sp>
        <p:nvSpPr>
          <p:cNvPr id="32" name="Text 30"/>
          <p:cNvSpPr/>
          <p:nvPr/>
        </p:nvSpPr>
        <p:spPr>
          <a:xfrm>
            <a:off x="4856857" y="2471589"/>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Sneakers</a:t>
            </a:r>
            <a:endParaRPr lang="en-US" sz="950" dirty="0"/>
          </a:p>
        </p:txBody>
      </p:sp>
      <p:sp>
        <p:nvSpPr>
          <p:cNvPr id="33" name="Text 31"/>
          <p:cNvSpPr/>
          <p:nvPr/>
        </p:nvSpPr>
        <p:spPr>
          <a:xfrm>
            <a:off x="7208267" y="2471589"/>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49.00</a:t>
            </a:r>
            <a:endParaRPr lang="en-US" sz="950" dirty="0"/>
          </a:p>
        </p:txBody>
      </p:sp>
      <p:sp>
        <p:nvSpPr>
          <p:cNvPr id="34" name="Shape 32"/>
          <p:cNvSpPr/>
          <p:nvPr/>
        </p:nvSpPr>
        <p:spPr>
          <a:xfrm>
            <a:off x="4732809" y="2749228"/>
            <a:ext cx="3915073" cy="356815"/>
          </a:xfrm>
          <a:prstGeom prst="rect">
            <a:avLst/>
          </a:prstGeom>
          <a:solidFill>
            <a:srgbClr val="000000">
              <a:alpha val="4000"/>
            </a:srgbClr>
          </a:solidFill>
          <a:ln/>
        </p:spPr>
      </p:sp>
      <p:sp>
        <p:nvSpPr>
          <p:cNvPr id="35" name="Text 33"/>
          <p:cNvSpPr/>
          <p:nvPr/>
        </p:nvSpPr>
        <p:spPr>
          <a:xfrm>
            <a:off x="4856857" y="2828404"/>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Coat</a:t>
            </a:r>
            <a:endParaRPr lang="en-US" sz="950" dirty="0"/>
          </a:p>
        </p:txBody>
      </p:sp>
      <p:sp>
        <p:nvSpPr>
          <p:cNvPr id="36" name="Text 34"/>
          <p:cNvSpPr/>
          <p:nvPr/>
        </p:nvSpPr>
        <p:spPr>
          <a:xfrm>
            <a:off x="7208267" y="2828404"/>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49.00</a:t>
            </a:r>
            <a:endParaRPr lang="en-US" sz="950" dirty="0"/>
          </a:p>
        </p:txBody>
      </p:sp>
      <p:sp>
        <p:nvSpPr>
          <p:cNvPr id="37" name="Shape 35"/>
          <p:cNvSpPr/>
          <p:nvPr/>
        </p:nvSpPr>
        <p:spPr>
          <a:xfrm>
            <a:off x="4732809" y="3106043"/>
            <a:ext cx="3915073" cy="356815"/>
          </a:xfrm>
          <a:prstGeom prst="rect">
            <a:avLst/>
          </a:prstGeom>
          <a:solidFill>
            <a:srgbClr val="FFFFFF">
              <a:alpha val="4000"/>
            </a:srgbClr>
          </a:solidFill>
          <a:ln/>
        </p:spPr>
      </p:sp>
      <p:sp>
        <p:nvSpPr>
          <p:cNvPr id="38" name="Text 36"/>
          <p:cNvSpPr/>
          <p:nvPr/>
        </p:nvSpPr>
        <p:spPr>
          <a:xfrm>
            <a:off x="4856857" y="3185220"/>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Sweater</a:t>
            </a:r>
            <a:endParaRPr lang="en-US" sz="950" dirty="0"/>
          </a:p>
        </p:txBody>
      </p:sp>
      <p:sp>
        <p:nvSpPr>
          <p:cNvPr id="39" name="Text 37"/>
          <p:cNvSpPr/>
          <p:nvPr/>
        </p:nvSpPr>
        <p:spPr>
          <a:xfrm>
            <a:off x="7208267" y="3185220"/>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48.00</a:t>
            </a:r>
            <a:endParaRPr lang="en-US" sz="950" dirty="0"/>
          </a:p>
        </p:txBody>
      </p:sp>
      <p:sp>
        <p:nvSpPr>
          <p:cNvPr id="40" name="Shape 38"/>
          <p:cNvSpPr/>
          <p:nvPr/>
        </p:nvSpPr>
        <p:spPr>
          <a:xfrm>
            <a:off x="4732809" y="3462858"/>
            <a:ext cx="3915073" cy="356815"/>
          </a:xfrm>
          <a:prstGeom prst="rect">
            <a:avLst/>
          </a:prstGeom>
          <a:solidFill>
            <a:srgbClr val="000000">
              <a:alpha val="4000"/>
            </a:srgbClr>
          </a:solidFill>
          <a:ln/>
        </p:spPr>
      </p:sp>
      <p:sp>
        <p:nvSpPr>
          <p:cNvPr id="41" name="Text 39"/>
          <p:cNvSpPr/>
          <p:nvPr/>
        </p:nvSpPr>
        <p:spPr>
          <a:xfrm>
            <a:off x="4856857" y="3542035"/>
            <a:ext cx="2555900"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Pants</a:t>
            </a:r>
            <a:endParaRPr lang="en-US" sz="950" dirty="0"/>
          </a:p>
        </p:txBody>
      </p:sp>
      <p:sp>
        <p:nvSpPr>
          <p:cNvPr id="42" name="Text 40"/>
          <p:cNvSpPr/>
          <p:nvPr/>
        </p:nvSpPr>
        <p:spPr>
          <a:xfrm>
            <a:off x="7208267" y="3542035"/>
            <a:ext cx="1772841" cy="198462"/>
          </a:xfrm>
          <a:prstGeom prst="rect">
            <a:avLst/>
          </a:prstGeom>
          <a:noFill/>
          <a:ln/>
        </p:spPr>
        <p:txBody>
          <a:bodyPr wrap="none" lIns="0" tIns="0" rIns="0" bIns="0" rtlCol="0" anchor="t"/>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47.00</a:t>
            </a:r>
            <a:endParaRPr lang="en-US" sz="950" dirty="0"/>
          </a:p>
        </p:txBody>
      </p:sp>
      <p:sp>
        <p:nvSpPr>
          <p:cNvPr id="43" name="Text 41"/>
          <p:cNvSpPr/>
          <p:nvPr/>
        </p:nvSpPr>
        <p:spPr>
          <a:xfrm>
            <a:off x="496119" y="410348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Gloves lead in customer satisfaction at 3.86, while Hats are the most discount-dependent at 50% — suggesting promotions heavily drive their sales.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9002"/>
            <a:ext cx="3768626" cy="211931"/>
          </a:xfrm>
          <a:prstGeom prst="rect">
            <a:avLst/>
          </a:prstGeom>
          <a:noFill/>
          <a:ln/>
        </p:spPr>
        <p:txBody>
          <a:bodyPr wrap="none" lIns="0" tIns="0" rIns="0" bIns="0" rtlCol="0" anchor="t"/>
          <a:lstStyle/>
          <a:p>
            <a:pPr algn="l" indent="0" marL="0">
              <a:lnSpc>
                <a:spcPct val="104000"/>
              </a:lnSpc>
              <a:buNone/>
            </a:pPr>
            <a:r>
              <a:rPr lang="en-US" sz="1300" dirty="0">
                <a:solidFill>
                  <a:srgbClr val="091C53"/>
                </a:solidFill>
                <a:latin typeface="Instrument Sans SemiBold" pitchFamily="34" charset="0"/>
                <a:ea typeface="Instrument Sans SemiBold" pitchFamily="34" charset="-122"/>
                <a:cs typeface="Instrument Sans SemiBold" pitchFamily="34" charset="-120"/>
              </a:rPr>
              <a:t>Customer Segmentation &amp; Repeat Buyers</a:t>
            </a:r>
            <a:endParaRPr lang="en-US" sz="1300" dirty="0"/>
          </a:p>
        </p:txBody>
      </p:sp>
      <p:sp>
        <p:nvSpPr>
          <p:cNvPr id="3" name="Text 1"/>
          <p:cNvSpPr/>
          <p:nvPr/>
        </p:nvSpPr>
        <p:spPr>
          <a:xfrm>
            <a:off x="2075408" y="1099021"/>
            <a:ext cx="834330" cy="169590"/>
          </a:xfrm>
          <a:prstGeom prst="rect">
            <a:avLst/>
          </a:prstGeom>
          <a:noFill/>
          <a:ln/>
        </p:spPr>
        <p:txBody>
          <a:bodyPr wrap="none" lIns="0" tIns="0" rIns="0" bIns="0" rtlCol="0" anchor="t"/>
          <a:lstStyle/>
          <a:p>
            <a:pPr algn="ctr" indent="0" marL="0">
              <a:lnSpc>
                <a:spcPct val="83000"/>
              </a:lnSpc>
              <a:buNone/>
            </a:pPr>
            <a:r>
              <a:rPr lang="en-US" sz="1300" dirty="0">
                <a:solidFill>
                  <a:srgbClr val="1E3063"/>
                </a:solidFill>
                <a:latin typeface="Instrument Sans SemiBold" pitchFamily="34" charset="0"/>
                <a:ea typeface="Instrument Sans SemiBold" pitchFamily="34" charset="-122"/>
                <a:cs typeface="Instrument Sans SemiBold" pitchFamily="34" charset="-120"/>
              </a:rPr>
              <a:t>80%</a:t>
            </a:r>
            <a:endParaRPr lang="en-US" sz="1300" dirty="0"/>
          </a:p>
        </p:txBody>
      </p:sp>
      <p:pic>
        <p:nvPicPr>
          <p:cNvPr id="4" name="Image 0" descr="preencoded.png">    </p:cNvPr>
          <p:cNvPicPr>
            <a:picLocks noChangeAspect="1"/>
          </p:cNvPicPr>
          <p:nvPr/>
        </p:nvPicPr>
        <p:blipFill>
          <a:blip r:embed="rId1"/>
          <a:stretch>
            <a:fillRect/>
          </a:stretch>
        </p:blipFill>
        <p:spPr>
          <a:xfrm>
            <a:off x="1983879" y="675084"/>
            <a:ext cx="1017538" cy="1017538"/>
          </a:xfrm>
          <a:prstGeom prst="rect">
            <a:avLst/>
          </a:prstGeom>
        </p:spPr>
      </p:pic>
      <p:sp>
        <p:nvSpPr>
          <p:cNvPr id="5" name="Text 2"/>
          <p:cNvSpPr/>
          <p:nvPr/>
        </p:nvSpPr>
        <p:spPr>
          <a:xfrm>
            <a:off x="2068711" y="1746572"/>
            <a:ext cx="847948" cy="106040"/>
          </a:xfrm>
          <a:prstGeom prst="rect">
            <a:avLst/>
          </a:prstGeom>
          <a:noFill/>
          <a:ln/>
        </p:spPr>
        <p:txBody>
          <a:bodyPr wrap="none" lIns="0" tIns="0" rIns="0" bIns="0" rtlCol="0" anchor="t"/>
          <a:lstStyle/>
          <a:p>
            <a:pPr algn="ctr" indent="0" marL="0">
              <a:lnSpc>
                <a:spcPct val="104000"/>
              </a:lnSpc>
              <a:buNone/>
            </a:pPr>
            <a:r>
              <a:rPr lang="en-US" sz="650" dirty="0">
                <a:solidFill>
                  <a:srgbClr val="1E3063"/>
                </a:solidFill>
                <a:latin typeface="Instrument Sans SemiBold" pitchFamily="34" charset="0"/>
                <a:ea typeface="Instrument Sans SemiBold" pitchFamily="34" charset="-122"/>
                <a:cs typeface="Instrument Sans SemiBold" pitchFamily="34" charset="-120"/>
              </a:rPr>
              <a:t>Loyal Customers</a:t>
            </a:r>
            <a:endParaRPr lang="en-US" sz="650" dirty="0"/>
          </a:p>
        </p:txBody>
      </p:sp>
      <p:sp>
        <p:nvSpPr>
          <p:cNvPr id="6" name="Text 3"/>
          <p:cNvSpPr/>
          <p:nvPr/>
        </p:nvSpPr>
        <p:spPr>
          <a:xfrm>
            <a:off x="496119" y="1889671"/>
            <a:ext cx="3993133" cy="83939"/>
          </a:xfrm>
          <a:prstGeom prst="rect">
            <a:avLst/>
          </a:prstGeom>
          <a:noFill/>
          <a:ln/>
        </p:spPr>
        <p:txBody>
          <a:bodyPr wrap="none" lIns="0" tIns="0" rIns="0" bIns="0" rtlCol="0" anchor="t"/>
          <a:lstStyle/>
          <a:p>
            <a:pPr algn="ctr" indent="0" marL="0">
              <a:lnSpc>
                <a:spcPct val="103000"/>
              </a:lnSpc>
              <a:buNone/>
            </a:pPr>
            <a:r>
              <a:rPr lang="en-US" sz="500" dirty="0">
                <a:solidFill>
                  <a:srgbClr val="1E3063"/>
                </a:solidFill>
                <a:latin typeface="Instrument Sans Medium" pitchFamily="34" charset="0"/>
                <a:ea typeface="Instrument Sans Medium" pitchFamily="34" charset="-122"/>
                <a:cs typeface="Instrument Sans Medium" pitchFamily="34" charset="-120"/>
              </a:rPr>
              <a:t>3,116 customers</a:t>
            </a:r>
            <a:endParaRPr lang="en-US" sz="500" dirty="0"/>
          </a:p>
        </p:txBody>
      </p:sp>
      <p:sp>
        <p:nvSpPr>
          <p:cNvPr id="7" name="Text 4"/>
          <p:cNvSpPr/>
          <p:nvPr/>
        </p:nvSpPr>
        <p:spPr>
          <a:xfrm>
            <a:off x="2075408" y="2488629"/>
            <a:ext cx="834330" cy="169590"/>
          </a:xfrm>
          <a:prstGeom prst="rect">
            <a:avLst/>
          </a:prstGeom>
          <a:noFill/>
          <a:ln/>
        </p:spPr>
        <p:txBody>
          <a:bodyPr wrap="none" lIns="0" tIns="0" rIns="0" bIns="0" rtlCol="0" anchor="t"/>
          <a:lstStyle/>
          <a:p>
            <a:pPr algn="ctr" indent="0" marL="0">
              <a:lnSpc>
                <a:spcPct val="83000"/>
              </a:lnSpc>
              <a:buNone/>
            </a:pPr>
            <a:r>
              <a:rPr lang="en-US" sz="1300" dirty="0">
                <a:solidFill>
                  <a:srgbClr val="1E3063"/>
                </a:solidFill>
                <a:latin typeface="Instrument Sans SemiBold" pitchFamily="34" charset="0"/>
                <a:ea typeface="Instrument Sans SemiBold" pitchFamily="34" charset="-122"/>
                <a:cs typeface="Instrument Sans SemiBold" pitchFamily="34" charset="-120"/>
              </a:rPr>
              <a:t>18%</a:t>
            </a:r>
            <a:endParaRPr lang="en-US" sz="1300" dirty="0"/>
          </a:p>
        </p:txBody>
      </p:sp>
      <p:pic>
        <p:nvPicPr>
          <p:cNvPr id="8" name="Image 1" descr="preencoded.png">    </p:cNvPr>
          <p:cNvPicPr>
            <a:picLocks noChangeAspect="1"/>
          </p:cNvPicPr>
          <p:nvPr/>
        </p:nvPicPr>
        <p:blipFill>
          <a:blip r:embed="rId2"/>
          <a:stretch>
            <a:fillRect/>
          </a:stretch>
        </p:blipFill>
        <p:spPr>
          <a:xfrm>
            <a:off x="1983879" y="2064693"/>
            <a:ext cx="1017538" cy="1017538"/>
          </a:xfrm>
          <a:prstGeom prst="rect">
            <a:avLst/>
          </a:prstGeom>
        </p:spPr>
      </p:pic>
      <p:sp>
        <p:nvSpPr>
          <p:cNvPr id="9" name="Text 5"/>
          <p:cNvSpPr/>
          <p:nvPr/>
        </p:nvSpPr>
        <p:spPr>
          <a:xfrm>
            <a:off x="2068711" y="3136181"/>
            <a:ext cx="847948" cy="106040"/>
          </a:xfrm>
          <a:prstGeom prst="rect">
            <a:avLst/>
          </a:prstGeom>
          <a:noFill/>
          <a:ln/>
        </p:spPr>
        <p:txBody>
          <a:bodyPr wrap="none" lIns="0" tIns="0" rIns="0" bIns="0" rtlCol="0" anchor="t"/>
          <a:lstStyle/>
          <a:p>
            <a:pPr algn="ctr" indent="0" marL="0">
              <a:lnSpc>
                <a:spcPct val="104000"/>
              </a:lnSpc>
              <a:buNone/>
            </a:pPr>
            <a:r>
              <a:rPr lang="en-US" sz="650" dirty="0">
                <a:solidFill>
                  <a:srgbClr val="1E3063"/>
                </a:solidFill>
                <a:latin typeface="Instrument Sans SemiBold" pitchFamily="34" charset="0"/>
                <a:ea typeface="Instrument Sans SemiBold" pitchFamily="34" charset="-122"/>
                <a:cs typeface="Instrument Sans SemiBold" pitchFamily="34" charset="-120"/>
              </a:rPr>
              <a:t>Returning</a:t>
            </a:r>
            <a:endParaRPr lang="en-US" sz="650" dirty="0"/>
          </a:p>
        </p:txBody>
      </p:sp>
      <p:sp>
        <p:nvSpPr>
          <p:cNvPr id="10" name="Text 6"/>
          <p:cNvSpPr/>
          <p:nvPr/>
        </p:nvSpPr>
        <p:spPr>
          <a:xfrm>
            <a:off x="496119" y="3279279"/>
            <a:ext cx="3993133" cy="83939"/>
          </a:xfrm>
          <a:prstGeom prst="rect">
            <a:avLst/>
          </a:prstGeom>
          <a:noFill/>
          <a:ln/>
        </p:spPr>
        <p:txBody>
          <a:bodyPr wrap="none" lIns="0" tIns="0" rIns="0" bIns="0" rtlCol="0" anchor="t"/>
          <a:lstStyle/>
          <a:p>
            <a:pPr algn="ctr" indent="0" marL="0">
              <a:lnSpc>
                <a:spcPct val="103000"/>
              </a:lnSpc>
              <a:buNone/>
            </a:pPr>
            <a:r>
              <a:rPr lang="en-US" sz="500" dirty="0">
                <a:solidFill>
                  <a:srgbClr val="1E3063"/>
                </a:solidFill>
                <a:latin typeface="Instrument Sans Medium" pitchFamily="34" charset="0"/>
                <a:ea typeface="Instrument Sans Medium" pitchFamily="34" charset="-122"/>
                <a:cs typeface="Instrument Sans Medium" pitchFamily="34" charset="-120"/>
              </a:rPr>
              <a:t>701 customers</a:t>
            </a:r>
            <a:endParaRPr lang="en-US" sz="500" dirty="0"/>
          </a:p>
        </p:txBody>
      </p:sp>
      <p:sp>
        <p:nvSpPr>
          <p:cNvPr id="11" name="Text 7"/>
          <p:cNvSpPr/>
          <p:nvPr/>
        </p:nvSpPr>
        <p:spPr>
          <a:xfrm>
            <a:off x="2075408" y="3878238"/>
            <a:ext cx="834330" cy="169590"/>
          </a:xfrm>
          <a:prstGeom prst="rect">
            <a:avLst/>
          </a:prstGeom>
          <a:noFill/>
          <a:ln/>
        </p:spPr>
        <p:txBody>
          <a:bodyPr wrap="none" lIns="0" tIns="0" rIns="0" bIns="0" rtlCol="0" anchor="t"/>
          <a:lstStyle/>
          <a:p>
            <a:pPr algn="ctr" indent="0" marL="0">
              <a:lnSpc>
                <a:spcPct val="83000"/>
              </a:lnSpc>
              <a:buNone/>
            </a:pPr>
            <a:r>
              <a:rPr lang="en-US" sz="1300" dirty="0">
                <a:solidFill>
                  <a:srgbClr val="1E3063"/>
                </a:solidFill>
                <a:latin typeface="Instrument Sans SemiBold" pitchFamily="34" charset="0"/>
                <a:ea typeface="Instrument Sans SemiBold" pitchFamily="34" charset="-122"/>
                <a:cs typeface="Instrument Sans SemiBold" pitchFamily="34" charset="-120"/>
              </a:rPr>
              <a:t>2%</a:t>
            </a:r>
            <a:endParaRPr lang="en-US" sz="1300" dirty="0"/>
          </a:p>
        </p:txBody>
      </p:sp>
      <p:pic>
        <p:nvPicPr>
          <p:cNvPr id="12" name="Image 2" descr="preencoded.png">    </p:cNvPr>
          <p:cNvPicPr>
            <a:picLocks noChangeAspect="1"/>
          </p:cNvPicPr>
          <p:nvPr/>
        </p:nvPicPr>
        <p:blipFill>
          <a:blip r:embed="rId3"/>
          <a:stretch>
            <a:fillRect/>
          </a:stretch>
        </p:blipFill>
        <p:spPr>
          <a:xfrm>
            <a:off x="1983879" y="3454301"/>
            <a:ext cx="1017538" cy="1017538"/>
          </a:xfrm>
          <a:prstGeom prst="rect">
            <a:avLst/>
          </a:prstGeom>
        </p:spPr>
      </p:pic>
      <p:sp>
        <p:nvSpPr>
          <p:cNvPr id="13" name="Text 8"/>
          <p:cNvSpPr/>
          <p:nvPr/>
        </p:nvSpPr>
        <p:spPr>
          <a:xfrm>
            <a:off x="2068711" y="4525789"/>
            <a:ext cx="847948" cy="106040"/>
          </a:xfrm>
          <a:prstGeom prst="rect">
            <a:avLst/>
          </a:prstGeom>
          <a:noFill/>
          <a:ln/>
        </p:spPr>
        <p:txBody>
          <a:bodyPr wrap="none" lIns="0" tIns="0" rIns="0" bIns="0" rtlCol="0" anchor="t"/>
          <a:lstStyle/>
          <a:p>
            <a:pPr algn="ctr" indent="0" marL="0">
              <a:lnSpc>
                <a:spcPct val="104000"/>
              </a:lnSpc>
              <a:buNone/>
            </a:pPr>
            <a:r>
              <a:rPr lang="en-US" sz="650" dirty="0">
                <a:solidFill>
                  <a:srgbClr val="1E3063"/>
                </a:solidFill>
                <a:latin typeface="Instrument Sans SemiBold" pitchFamily="34" charset="0"/>
                <a:ea typeface="Instrument Sans SemiBold" pitchFamily="34" charset="-122"/>
                <a:cs typeface="Instrument Sans SemiBold" pitchFamily="34" charset="-120"/>
              </a:rPr>
              <a:t>New</a:t>
            </a:r>
            <a:endParaRPr lang="en-US" sz="650" dirty="0"/>
          </a:p>
        </p:txBody>
      </p:sp>
      <p:sp>
        <p:nvSpPr>
          <p:cNvPr id="14" name="Text 9"/>
          <p:cNvSpPr/>
          <p:nvPr/>
        </p:nvSpPr>
        <p:spPr>
          <a:xfrm>
            <a:off x="496119" y="4668887"/>
            <a:ext cx="3993133" cy="83939"/>
          </a:xfrm>
          <a:prstGeom prst="rect">
            <a:avLst/>
          </a:prstGeom>
          <a:noFill/>
          <a:ln/>
        </p:spPr>
        <p:txBody>
          <a:bodyPr wrap="none" lIns="0" tIns="0" rIns="0" bIns="0" rtlCol="0" anchor="t"/>
          <a:lstStyle/>
          <a:p>
            <a:pPr algn="ctr" indent="0" marL="0">
              <a:lnSpc>
                <a:spcPct val="103000"/>
              </a:lnSpc>
              <a:buNone/>
            </a:pPr>
            <a:r>
              <a:rPr lang="en-US" sz="500" dirty="0">
                <a:solidFill>
                  <a:srgbClr val="1E3063"/>
                </a:solidFill>
                <a:latin typeface="Instrument Sans Medium" pitchFamily="34" charset="0"/>
                <a:ea typeface="Instrument Sans Medium" pitchFamily="34" charset="-122"/>
                <a:cs typeface="Instrument Sans Medium" pitchFamily="34" charset="-120"/>
              </a:rPr>
              <a:t>83 customers</a:t>
            </a:r>
            <a:endParaRPr lang="en-US" sz="500" dirty="0"/>
          </a:p>
        </p:txBody>
      </p:sp>
      <p:sp>
        <p:nvSpPr>
          <p:cNvPr id="15" name="Text 10"/>
          <p:cNvSpPr/>
          <p:nvPr/>
        </p:nvSpPr>
        <p:spPr>
          <a:xfrm>
            <a:off x="4659511" y="653579"/>
            <a:ext cx="1679600" cy="106040"/>
          </a:xfrm>
          <a:prstGeom prst="rect">
            <a:avLst/>
          </a:prstGeom>
          <a:noFill/>
          <a:ln/>
        </p:spPr>
        <p:txBody>
          <a:bodyPr wrap="none" lIns="0" tIns="0" rIns="0" bIns="0" rtlCol="0" anchor="t"/>
          <a:lstStyle/>
          <a:p>
            <a:pPr algn="l" indent="0" marL="0">
              <a:lnSpc>
                <a:spcPct val="104000"/>
              </a:lnSpc>
              <a:buNone/>
            </a:pPr>
            <a:r>
              <a:rPr lang="en-US" sz="650" dirty="0">
                <a:solidFill>
                  <a:srgbClr val="091C53"/>
                </a:solidFill>
                <a:latin typeface="Instrument Sans SemiBold" pitchFamily="34" charset="0"/>
                <a:ea typeface="Instrument Sans SemiBold" pitchFamily="34" charset="-122"/>
                <a:cs typeface="Instrument Sans SemiBold" pitchFamily="34" charset="-120"/>
              </a:rPr>
              <a:t>Repeat Buyers &amp; Subscriptions</a:t>
            </a:r>
            <a:endParaRPr lang="en-US" sz="650" dirty="0"/>
          </a:p>
        </p:txBody>
      </p:sp>
      <p:sp>
        <p:nvSpPr>
          <p:cNvPr id="16" name="Text 11"/>
          <p:cNvSpPr/>
          <p:nvPr/>
        </p:nvSpPr>
        <p:spPr>
          <a:xfrm>
            <a:off x="4659511" y="796677"/>
            <a:ext cx="3993133" cy="167878"/>
          </a:xfrm>
          <a:prstGeom prst="rect">
            <a:avLst/>
          </a:prstGeom>
          <a:noFill/>
          <a:ln/>
        </p:spPr>
        <p:txBody>
          <a:bodyPr wrap="square" lIns="0" tIns="0" rIns="0" bIns="0" rtlCol="0" anchor="t">
            <a:normAutofit/>
          </a:bodyPr>
          <a:lstStyle/>
          <a:p>
            <a:pPr algn="l" indent="0" marL="0">
              <a:lnSpc>
                <a:spcPct val="103000"/>
              </a:lnSpc>
              <a:buNone/>
            </a:pPr>
            <a:r>
              <a:rPr lang="en-US" sz="500" dirty="0">
                <a:solidFill>
                  <a:srgbClr val="1E3063"/>
                </a:solidFill>
                <a:latin typeface="Instrument Sans Medium" pitchFamily="34" charset="0"/>
                <a:ea typeface="Instrument Sans Medium" pitchFamily="34" charset="-122"/>
                <a:cs typeface="Instrument Sans Medium" pitchFamily="34" charset="-120"/>
              </a:rPr>
              <a:t>Among customers with more than 5 purchases, 2,518 are non-subscribers while 958 are subscribers — indicating repeat purchases do not strongly correlate with subscription uptake.</a:t>
            </a:r>
            <a:endParaRPr lang="en-US" sz="500" dirty="0"/>
          </a:p>
        </p:txBody>
      </p:sp>
      <p:pic>
        <p:nvPicPr>
          <p:cNvPr id="17" name="Image 3" descr="preencoded.png">    </p:cNvPr>
          <p:cNvPicPr>
            <a:picLocks noChangeAspect="1"/>
          </p:cNvPicPr>
          <p:nvPr/>
        </p:nvPicPr>
        <p:blipFill>
          <a:blip r:embed="rId4"/>
          <a:stretch>
            <a:fillRect/>
          </a:stretch>
        </p:blipFill>
        <p:spPr>
          <a:xfrm>
            <a:off x="4659511" y="1006227"/>
            <a:ext cx="3993133" cy="28742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41114"/>
            <a:ext cx="2108374" cy="193849"/>
          </a:xfrm>
          <a:prstGeom prst="rect">
            <a:avLst/>
          </a:prstGeom>
          <a:noFill/>
          <a:ln/>
        </p:spPr>
        <p:txBody>
          <a:bodyPr wrap="none" lIns="0" tIns="0" rIns="0" bIns="0" rtlCol="0" anchor="t"/>
          <a:lstStyle/>
          <a:p>
            <a:pPr algn="l" indent="0" marL="0">
              <a:lnSpc>
                <a:spcPct val="104000"/>
              </a:lnSpc>
              <a:buNone/>
            </a:pPr>
            <a:r>
              <a:rPr lang="en-US" sz="1200" dirty="0">
                <a:solidFill>
                  <a:srgbClr val="091C53"/>
                </a:solidFill>
                <a:latin typeface="Instrument Sans SemiBold" pitchFamily="34" charset="0"/>
                <a:ea typeface="Instrument Sans SemiBold" pitchFamily="34" charset="-122"/>
                <a:cs typeface="Instrument Sans SemiBold" pitchFamily="34" charset="-120"/>
              </a:rPr>
              <a:t>Revenue by Age Group</a:t>
            </a:r>
            <a:endParaRPr lang="en-US" sz="1200" dirty="0"/>
          </a:p>
        </p:txBody>
      </p:sp>
      <p:pic>
        <p:nvPicPr>
          <p:cNvPr id="3" name="Image 0" descr="preencoded.png">    </p:cNvPr>
          <p:cNvPicPr>
            <a:picLocks noChangeAspect="1"/>
          </p:cNvPicPr>
          <p:nvPr/>
        </p:nvPicPr>
        <p:blipFill>
          <a:blip r:embed="rId1"/>
          <a:stretch>
            <a:fillRect/>
          </a:stretch>
        </p:blipFill>
        <p:spPr>
          <a:xfrm>
            <a:off x="496119" y="596950"/>
            <a:ext cx="8151763" cy="4564931"/>
          </a:xfrm>
          <a:prstGeom prst="rect">
            <a:avLst/>
          </a:prstGeom>
        </p:spPr>
      </p:pic>
      <p:sp>
        <p:nvSpPr>
          <p:cNvPr id="4" name="Text 1"/>
          <p:cNvSpPr/>
          <p:nvPr/>
        </p:nvSpPr>
        <p:spPr>
          <a:xfrm>
            <a:off x="496119" y="5196706"/>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1E3063"/>
                </a:solidFill>
                <a:latin typeface="Instrument Sans Medium" pitchFamily="34" charset="0"/>
                <a:ea typeface="Instrument Sans Medium" pitchFamily="34" charset="-122"/>
                <a:cs typeface="Instrument Sans Medium" pitchFamily="34" charset="-120"/>
              </a:rPr>
              <a:t>Young Adults lead in revenue contribution at $62,143, followed closely by Middle-aged customers at $59,197. The spread across age groups is relatively narrow, with Seniors contributing $55,763.</a:t>
            </a:r>
            <a:endParaRPr lang="en-US" sz="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543550" y="0"/>
            <a:ext cx="3600450" cy="5143500"/>
          </a:xfrm>
          <a:prstGeom prst="rect">
            <a:avLst/>
          </a:prstGeom>
          <a:solidFill>
            <a:srgbClr val="CEE6FD"/>
          </a:solidFill>
          <a:ln/>
        </p:spPr>
      </p:sp>
      <p:pic>
        <p:nvPicPr>
          <p:cNvPr id="3" name="Image 0" descr="preencoded.png">    </p:cNvPr>
          <p:cNvPicPr>
            <a:picLocks noChangeAspect="1"/>
          </p:cNvPicPr>
          <p:nvPr/>
        </p:nvPicPr>
        <p:blipFill>
          <a:blip r:embed="rId1"/>
          <a:stretch>
            <a:fillRect/>
          </a:stretch>
        </p:blipFill>
        <p:spPr>
          <a:xfrm>
            <a:off x="5975300" y="241697"/>
            <a:ext cx="3106638" cy="4660032"/>
          </a:xfrm>
          <a:prstGeom prst="rect">
            <a:avLst/>
          </a:prstGeom>
        </p:spPr>
      </p:pic>
      <p:sp>
        <p:nvSpPr>
          <p:cNvPr id="4" name="Text 1"/>
          <p:cNvSpPr/>
          <p:nvPr/>
        </p:nvSpPr>
        <p:spPr>
          <a:xfrm>
            <a:off x="496119" y="1520577"/>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Power BI Dashboard</a:t>
            </a:r>
            <a:endParaRPr lang="en-US" sz="2400" dirty="0"/>
          </a:p>
        </p:txBody>
      </p:sp>
      <p:sp>
        <p:nvSpPr>
          <p:cNvPr id="5" name="Text 2"/>
          <p:cNvSpPr/>
          <p:nvPr/>
        </p:nvSpPr>
        <p:spPr>
          <a:xfrm>
            <a:off x="496119" y="2094161"/>
            <a:ext cx="4722763" cy="1528763"/>
          </a:xfrm>
          <a:prstGeom prst="rect">
            <a:avLst/>
          </a:prstGeom>
          <a:noFill/>
          <a:ln/>
        </p:spPr>
        <p:txBody>
          <a:bodyPr wrap="square" lIns="0" tIns="0" rIns="0" bIns="0" rtlCol="0" anchor="t">
            <a:normAutofit/>
          </a:bodyPr>
          <a:lstStyle/>
          <a:p>
            <a:pPr algn="l" indent="0" marL="0">
              <a:lnSpc>
                <a:spcPct val="133000"/>
              </a:lnSpc>
              <a:spcAft>
                <a:spcPts val="1050"/>
              </a:spcAft>
              <a:buNone/>
            </a:pPr>
            <a:r>
              <a:rPr lang="en-US" sz="950" dirty="0">
                <a:solidFill>
                  <a:srgbClr val="1E3063"/>
                </a:solidFill>
                <a:latin typeface="Instrument Sans Medium" pitchFamily="34" charset="0"/>
                <a:ea typeface="Instrument Sans Medium" pitchFamily="34" charset="-122"/>
                <a:cs typeface="Instrument Sans Medium" pitchFamily="34" charset="-120"/>
              </a:rPr>
              <a:t>We built an interactive dashboard in Power BI to present insights visually. The dashboard features a donut chart for subscriber status (1.05K subscribed vs. 2.85K non-subscribed), revenue and sales breakdowns by category, and revenue and sales by age group.</a:t>
            </a:r>
            <a:endParaRPr lang="en-US" sz="950" dirty="0"/>
          </a:p>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Key headline metrics displayed include 3.9K total customers, $59.76 average purchase amount, and a 3.75 average review rating. Interactive filters allow slicing by gender, category, and shipping type.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941412"/>
            <a:ext cx="1741438" cy="233214"/>
          </a:xfrm>
          <a:prstGeom prst="roundRect">
            <a:avLst>
              <a:gd name="adj" fmla="val 38297"/>
            </a:avLst>
          </a:prstGeom>
          <a:solidFill>
            <a:srgbClr val="CEE6FD"/>
          </a:solidFill>
          <a:ln/>
        </p:spPr>
      </p:sp>
      <p:sp>
        <p:nvSpPr>
          <p:cNvPr id="3" name="Text 1"/>
          <p:cNvSpPr/>
          <p:nvPr/>
        </p:nvSpPr>
        <p:spPr>
          <a:xfrm>
            <a:off x="570533" y="978619"/>
            <a:ext cx="2049810" cy="158800"/>
          </a:xfrm>
          <a:prstGeom prst="rect">
            <a:avLst/>
          </a:prstGeom>
          <a:noFill/>
          <a:ln/>
        </p:spPr>
        <p:txBody>
          <a:bodyPr wrap="none" lIns="0" tIns="0" rIns="0" bIns="0" rtlCol="0" anchor="t"/>
          <a:lstStyle/>
          <a:p>
            <a:pPr algn="l" indent="0" marL="0">
              <a:lnSpc>
                <a:spcPct val="1330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STRATEGIC RECOMMENDATIONS</a:t>
            </a:r>
            <a:endParaRPr lang="en-US" sz="750" dirty="0"/>
          </a:p>
        </p:txBody>
      </p:sp>
      <p:sp>
        <p:nvSpPr>
          <p:cNvPr id="4" name="Text 2"/>
          <p:cNvSpPr/>
          <p:nvPr/>
        </p:nvSpPr>
        <p:spPr>
          <a:xfrm>
            <a:off x="496119" y="1224186"/>
            <a:ext cx="4584427" cy="387548"/>
          </a:xfrm>
          <a:prstGeom prst="rect">
            <a:avLst/>
          </a:prstGeom>
          <a:noFill/>
          <a:ln/>
        </p:spPr>
        <p:txBody>
          <a:bodyPr wrap="none" lIns="0" tIns="0" rIns="0" bIns="0" rtlCol="0" anchor="t"/>
          <a:lstStyle/>
          <a:p>
            <a:pPr algn="l" indent="0" marL="0">
              <a:lnSpc>
                <a:spcPct val="104000"/>
              </a:lnSpc>
              <a:buNone/>
            </a:pPr>
            <a:r>
              <a:rPr lang="en-US" sz="2400" dirty="0">
                <a:solidFill>
                  <a:srgbClr val="091C53"/>
                </a:solidFill>
                <a:latin typeface="Instrument Sans SemiBold" pitchFamily="34" charset="0"/>
                <a:ea typeface="Instrument Sans SemiBold" pitchFamily="34" charset="-122"/>
                <a:cs typeface="Instrument Sans SemiBold" pitchFamily="34" charset="-120"/>
              </a:rPr>
              <a:t>Business Recommendations</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797769"/>
            <a:ext cx="2634555" cy="1140172"/>
          </a:xfrm>
          <a:prstGeom prst="rect">
            <a:avLst/>
          </a:prstGeom>
        </p:spPr>
      </p:pic>
      <p:sp>
        <p:nvSpPr>
          <p:cNvPr id="6" name="Text 3"/>
          <p:cNvSpPr/>
          <p:nvPr/>
        </p:nvSpPr>
        <p:spPr>
          <a:xfrm>
            <a:off x="691530" y="1936031"/>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Boost Subscriptions</a:t>
            </a:r>
            <a:endParaRPr lang="en-US" sz="1200" dirty="0"/>
          </a:p>
        </p:txBody>
      </p:sp>
      <p:sp>
        <p:nvSpPr>
          <p:cNvPr id="7" name="Text 4"/>
          <p:cNvSpPr/>
          <p:nvPr/>
        </p:nvSpPr>
        <p:spPr>
          <a:xfrm>
            <a:off x="691530" y="2204293"/>
            <a:ext cx="230088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Promote exclusive benefits for subscribers to increase the 27% subscription rate.</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4648" y="1797769"/>
            <a:ext cx="2634630" cy="1140172"/>
          </a:xfrm>
          <a:prstGeom prst="rect">
            <a:avLst/>
          </a:prstGeom>
        </p:spPr>
      </p:pic>
      <p:sp>
        <p:nvSpPr>
          <p:cNvPr id="9" name="Text 5"/>
          <p:cNvSpPr/>
          <p:nvPr/>
        </p:nvSpPr>
        <p:spPr>
          <a:xfrm>
            <a:off x="3450059" y="1936031"/>
            <a:ext cx="203693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Customer Loyalty Programs</a:t>
            </a:r>
            <a:endParaRPr lang="en-US" sz="1200" dirty="0"/>
          </a:p>
        </p:txBody>
      </p:sp>
      <p:sp>
        <p:nvSpPr>
          <p:cNvPr id="10" name="Text 6"/>
          <p:cNvSpPr/>
          <p:nvPr/>
        </p:nvSpPr>
        <p:spPr>
          <a:xfrm>
            <a:off x="3450059" y="2204293"/>
            <a:ext cx="230095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Reward repeat buyers to move them into the "Loyal" segment and increase retention.</a:t>
            </a:r>
            <a:endParaRPr lang="en-US"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3252" y="1797769"/>
            <a:ext cx="2634555" cy="1140172"/>
          </a:xfrm>
          <a:prstGeom prst="rect">
            <a:avLst/>
          </a:prstGeom>
        </p:spPr>
      </p:pic>
      <p:sp>
        <p:nvSpPr>
          <p:cNvPr id="12" name="Text 7"/>
          <p:cNvSpPr/>
          <p:nvPr/>
        </p:nvSpPr>
        <p:spPr>
          <a:xfrm>
            <a:off x="6208663" y="1936031"/>
            <a:ext cx="167684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Review Discount Policy</a:t>
            </a:r>
            <a:endParaRPr lang="en-US" sz="1200" dirty="0"/>
          </a:p>
        </p:txBody>
      </p:sp>
      <p:sp>
        <p:nvSpPr>
          <p:cNvPr id="13" name="Text 8"/>
          <p:cNvSpPr/>
          <p:nvPr/>
        </p:nvSpPr>
        <p:spPr>
          <a:xfrm>
            <a:off x="6208663" y="2204293"/>
            <a:ext cx="230088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Balance sales boosts with margin control, especially for high-discount products like Hats.</a:t>
            </a:r>
            <a:endParaRPr lang="en-US" sz="9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6119" y="3061915"/>
            <a:ext cx="2634555" cy="1140172"/>
          </a:xfrm>
          <a:prstGeom prst="rect">
            <a:avLst/>
          </a:prstGeom>
        </p:spPr>
      </p:pic>
      <p:sp>
        <p:nvSpPr>
          <p:cNvPr id="15" name="Text 9"/>
          <p:cNvSpPr/>
          <p:nvPr/>
        </p:nvSpPr>
        <p:spPr>
          <a:xfrm>
            <a:off x="691530" y="320017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Product Positioning</a:t>
            </a:r>
            <a:endParaRPr lang="en-US" sz="1200" dirty="0"/>
          </a:p>
        </p:txBody>
      </p:sp>
      <p:sp>
        <p:nvSpPr>
          <p:cNvPr id="16" name="Text 10"/>
          <p:cNvSpPr/>
          <p:nvPr/>
        </p:nvSpPr>
        <p:spPr>
          <a:xfrm>
            <a:off x="691530" y="3468439"/>
            <a:ext cx="23008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Highlight top-rated and best-selling products in marketing campaigns.</a:t>
            </a:r>
            <a:endParaRPr lang="en-US" sz="950" dirty="0"/>
          </a:p>
        </p:txBody>
      </p:sp>
      <p:pic>
        <p:nvPicPr>
          <p:cNvPr id="1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54648" y="3061915"/>
            <a:ext cx="2634630" cy="1140172"/>
          </a:xfrm>
          <a:prstGeom prst="rect">
            <a:avLst/>
          </a:prstGeom>
        </p:spPr>
      </p:pic>
      <p:sp>
        <p:nvSpPr>
          <p:cNvPr id="18" name="Text 11"/>
          <p:cNvSpPr/>
          <p:nvPr/>
        </p:nvSpPr>
        <p:spPr>
          <a:xfrm>
            <a:off x="3450059" y="320017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1E3063"/>
                </a:solidFill>
                <a:latin typeface="Instrument Sans SemiBold" pitchFamily="34" charset="0"/>
                <a:ea typeface="Instrument Sans SemiBold" pitchFamily="34" charset="-122"/>
                <a:cs typeface="Instrument Sans SemiBold" pitchFamily="34" charset="-120"/>
              </a:rPr>
              <a:t>Targeted Marketing</a:t>
            </a:r>
            <a:endParaRPr lang="en-US" sz="1200" dirty="0"/>
          </a:p>
        </p:txBody>
      </p:sp>
      <p:sp>
        <p:nvSpPr>
          <p:cNvPr id="19" name="Text 12"/>
          <p:cNvSpPr/>
          <p:nvPr/>
        </p:nvSpPr>
        <p:spPr>
          <a:xfrm>
            <a:off x="3450059" y="3468439"/>
            <a:ext cx="230095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Focus efforts on high-revenue age groups like Young Adults and express-shipping users.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2026-07-04T13:47:19Z</dcterms:created>
  <dcterms:modified xsi:type="dcterms:W3CDTF">2026-07-04T13:47:19Z</dcterms:modified>
</cp:coreProperties>
</file>